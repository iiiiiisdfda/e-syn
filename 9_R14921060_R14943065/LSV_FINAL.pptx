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T Sans Narrow"/>
      <p:regular r:id="rId18"/>
      <p:bold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1C413C-269F-4AB4-88B6-29283F609C98}">
  <a:tblStyle styleId="{171C413C-269F-4AB4-88B6-29283F609C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5.xml"/><Relationship Id="rId22" Type="http://schemas.openxmlformats.org/officeDocument/2006/relationships/font" Target="fonts/OpenSans-italic.fntdata"/><Relationship Id="rId10" Type="http://schemas.openxmlformats.org/officeDocument/2006/relationships/slide" Target="slides/slide4.xml"/><Relationship Id="rId21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TSansNarrow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TSansNarrow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30f33103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30f33103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30f33103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30f33103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30f33103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30f33103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30f33103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30f33103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30f33103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30f33103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31bb009f5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31bb009f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351250d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351250d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3351250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3351250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3351250d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3351250d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3351250d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3351250d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Technology-Aware Logic Synthesis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R14921060歐信泓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R14943065李昀儒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Previous Work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1524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E-Syn: E-Graph Rewriting with Technology-Aware Cost Functions for Logic Synthesis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Use </a:t>
            </a:r>
            <a:r>
              <a:rPr lang="zh-TW"/>
              <a:t>equivalent</a:t>
            </a:r>
            <a:r>
              <a:rPr lang="zh-TW"/>
              <a:t> graph and rewriting rules to search for the optimal form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Use a regression model to estimate the cost instead of abc mapping</a:t>
            </a:r>
            <a:endParaRPr/>
          </a:p>
        </p:txBody>
      </p:sp>
      <p:pic>
        <p:nvPicPr>
          <p:cNvPr id="74" name="Google Shape;74;p14" title="截圖 2025-12-22 下午5.29.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750" y="2333725"/>
            <a:ext cx="7035628" cy="271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Feature Permutation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222325" y="1266325"/>
            <a:ext cx="56400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XGBoost use regression to estimate the cost (area, delay…)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The original </a:t>
            </a:r>
            <a:r>
              <a:rPr b="1" lang="zh-TW"/>
              <a:t>area</a:t>
            </a:r>
            <a:r>
              <a:rPr lang="zh-TW"/>
              <a:t> estimater exhibited a 39.49% </a:t>
            </a:r>
            <a:r>
              <a:rPr lang="zh-TW"/>
              <a:t>MAPE（Mean Absolute Percentage Error）</a:t>
            </a:r>
            <a:endParaRPr/>
          </a:p>
        </p:txBody>
      </p:sp>
      <p:graphicFrame>
        <p:nvGraphicFramePr>
          <p:cNvPr id="81" name="Google Shape;81;p15"/>
          <p:cNvGraphicFramePr/>
          <p:nvPr/>
        </p:nvGraphicFramePr>
        <p:xfrm>
          <a:off x="5796925" y="17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{171C413C-269F-4AB4-88B6-29283F609C98}</a:tableStyleId>
              </a:tblPr>
              <a:tblGrid>
                <a:gridCol w="1125475"/>
                <a:gridCol w="1959550"/>
              </a:tblGrid>
              <a:tr h="40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parameter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meaning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num of 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num of AND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num of NOT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num of CONCAT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ASTSize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size of AST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ASTDepth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depth of AST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SUMnode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sum of node num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SUM_LIB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sum of all node times their liberty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AVE_LIB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SUM_LIB /</a:t>
                      </a:r>
                      <a:r>
                        <a:rPr lang="zh-TW"/>
                        <a:t> </a:t>
                      </a:r>
                      <a:r>
                        <a:rPr lang="zh-TW"/>
                        <a:t>SUM_NODE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area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area after mapping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2" name="Google Shape;82;p15"/>
          <p:cNvSpPr/>
          <p:nvPr/>
        </p:nvSpPr>
        <p:spPr>
          <a:xfrm>
            <a:off x="5796988" y="587400"/>
            <a:ext cx="3084900" cy="396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4881625" y="600125"/>
            <a:ext cx="804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  <a:endParaRPr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797000" y="4572975"/>
            <a:ext cx="3084900" cy="397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770625" y="4682925"/>
            <a:ext cx="1026300" cy="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output</a:t>
            </a:r>
            <a:endParaRPr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Feature Permutation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5088850" y="1437925"/>
            <a:ext cx="4017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Collect features from eqn and AIGs, build a regression model, and apply feature permutation to identify the determining features.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 title="截圖 2025-12-22 晚上8.17.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75" y="1345750"/>
            <a:ext cx="4673975" cy="3487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Feature Permutation - Comparisom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249375" y="12574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add </a:t>
            </a:r>
            <a:r>
              <a:rPr i="1" lang="zh-TW"/>
              <a:t>graph_edges, graph_density, graph_nodes, avg_degree</a:t>
            </a:r>
            <a:r>
              <a:rPr lang="zh-TW"/>
              <a:t> as new features parameter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zh-TW"/>
              <a:t>4.99% improvement in MAPE</a:t>
            </a:r>
            <a:r>
              <a:rPr lang="zh-TW"/>
              <a:t> </a:t>
            </a:r>
            <a:endParaRPr/>
          </a:p>
        </p:txBody>
      </p:sp>
      <p:graphicFrame>
        <p:nvGraphicFramePr>
          <p:cNvPr id="99" name="Google Shape;99;p17"/>
          <p:cNvGraphicFramePr/>
          <p:nvPr/>
        </p:nvGraphicFramePr>
        <p:xfrm>
          <a:off x="2653825" y="29829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{171C413C-269F-4AB4-88B6-29283F609C98}</a:tableStyleId>
              </a:tblPr>
              <a:tblGrid>
                <a:gridCol w="1536425"/>
                <a:gridCol w="1033700"/>
                <a:gridCol w="1060525"/>
                <a:gridCol w="959650"/>
                <a:gridCol w="970850"/>
                <a:gridCol w="8137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MAE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MAPE (%)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RRSE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R²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RMSE 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3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old_xgboost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26.63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39.49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0.6516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0.5754 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40.27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9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new_xgboost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25.07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35.50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0.6169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0.6195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37.84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" name="Google Shape;100;p17"/>
          <p:cNvSpPr/>
          <p:nvPr/>
        </p:nvSpPr>
        <p:spPr>
          <a:xfrm>
            <a:off x="5223950" y="3379200"/>
            <a:ext cx="1060500" cy="864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7244125" y="3379225"/>
            <a:ext cx="970800" cy="864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249375" y="3063325"/>
            <a:ext cx="3040200" cy="12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train        : 40000 data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validate  : 10000 data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 sz="1400"/>
              <a:t>test         :  5000 data</a:t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Model Comparison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train         : 40000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validate   : 10000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test          :  5000 data</a:t>
            </a:r>
            <a:endParaRPr/>
          </a:p>
        </p:txBody>
      </p:sp>
      <p:graphicFrame>
        <p:nvGraphicFramePr>
          <p:cNvPr id="109" name="Google Shape;109;p18"/>
          <p:cNvGraphicFramePr/>
          <p:nvPr/>
        </p:nvGraphicFramePr>
        <p:xfrm>
          <a:off x="952500" y="241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{171C413C-269F-4AB4-88B6-29283F609C98}</a:tableStyleId>
              </a:tblPr>
              <a:tblGrid>
                <a:gridCol w="1434875"/>
                <a:gridCol w="978125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model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MAE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MAPE(%)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RRSE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R²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RMSE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XGB</a:t>
                      </a:r>
                      <a:r>
                        <a:rPr lang="zh-TW"/>
                        <a:t>oost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25.07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35.50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0.6169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0.6195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37.84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MLP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22.93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35.54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0.5548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0.6922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34.03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CatBoost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24.38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38.01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0.5932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0.6481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36.39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LightGBM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24.66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38.46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0.5996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0.6405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36.78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Random 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25.47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39.68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0.6144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0.6225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37.69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0" name="Google Shape;110;p18"/>
          <p:cNvSpPr/>
          <p:nvPr/>
        </p:nvSpPr>
        <p:spPr>
          <a:xfrm>
            <a:off x="3397575" y="2806475"/>
            <a:ext cx="1174500" cy="768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5778500" y="2806475"/>
            <a:ext cx="1174500" cy="768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Refinement on Feature Extracted</a:t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11700" y="1266325"/>
            <a:ext cx="5452800" cy="29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Some of the features in the training process are less important.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TW" sz="1500"/>
              <a:t>number of “+”, “&amp;”, “*” , as the circuit is generated with aigfuzz</a:t>
            </a:r>
            <a:endParaRPr sz="1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Introduced new features to get better training results.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TW" sz="1500"/>
              <a:t>density of the graph, average number of fanout…</a:t>
            </a:r>
            <a:endParaRPr sz="1500"/>
          </a:p>
        </p:txBody>
      </p:sp>
      <p:graphicFrame>
        <p:nvGraphicFramePr>
          <p:cNvPr id="118" name="Google Shape;118;p19"/>
          <p:cNvGraphicFramePr/>
          <p:nvPr/>
        </p:nvGraphicFramePr>
        <p:xfrm>
          <a:off x="5796925" y="17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{171C413C-269F-4AB4-88B6-29283F609C98}</a:tableStyleId>
              </a:tblPr>
              <a:tblGrid>
                <a:gridCol w="1125475"/>
                <a:gridCol w="1959550"/>
              </a:tblGrid>
              <a:tr h="406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parameter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meaning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+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num of 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*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num of AND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!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num of NOT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&amp;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num of CONCAT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ASTSize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size of AST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ASTDepth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depth of AST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SUMnode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sum of node num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SUM_LIB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sum of all node times their liberty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AVE_LIB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SUM_LIB / SUM_NODE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area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area after mapping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Expansion</a:t>
            </a:r>
            <a:r>
              <a:rPr lang="zh-TW"/>
              <a:t> on the E-</a:t>
            </a:r>
            <a:r>
              <a:rPr lang="zh-TW"/>
              <a:t>G</a:t>
            </a:r>
            <a:r>
              <a:rPr lang="zh-TW"/>
              <a:t>raph</a:t>
            </a:r>
            <a:r>
              <a:rPr lang="zh-TW"/>
              <a:t> Rewrite Rule</a:t>
            </a:r>
            <a:endParaRPr/>
          </a:p>
        </p:txBody>
      </p:sp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1266325"/>
            <a:ext cx="8102400" cy="22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Expanded the rewrite rule to cover the XOR operator.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TW" sz="1500"/>
              <a:t>Used python to generate random circuit with XOR operator instead of aigfuzz.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TW" sz="1500"/>
              <a:t>Add features that is related to XOR in the training process.</a:t>
            </a:r>
            <a:endParaRPr sz="1500"/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3525" y="2462925"/>
            <a:ext cx="5023825" cy="24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Results</a:t>
            </a:r>
            <a:endParaRPr/>
          </a:p>
        </p:txBody>
      </p:sp>
      <p:graphicFrame>
        <p:nvGraphicFramePr>
          <p:cNvPr id="131" name="Google Shape;131;p21"/>
          <p:cNvGraphicFramePr/>
          <p:nvPr/>
        </p:nvGraphicFramePr>
        <p:xfrm>
          <a:off x="1310300" y="265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{171C413C-269F-4AB4-88B6-29283F609C98}</a:tableStyleId>
              </a:tblPr>
              <a:tblGrid>
                <a:gridCol w="1453175"/>
                <a:gridCol w="1267550"/>
                <a:gridCol w="1267550"/>
                <a:gridCol w="1267550"/>
                <a:gridCol w="1267550"/>
              </a:tblGrid>
              <a:tr h="33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/>
                        <a:t>circuit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/>
                        <a:t>calvc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/>
                        <a:t>frg2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/>
                        <a:t>simple1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/>
                        <a:t>adder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/>
                        <a:t>ABC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/>
                        <a:t>465.86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600"/>
                        <a:t>654.82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/>
                        <a:t>116.87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/>
                        <a:t>our implement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600"/>
                        <a:t>453.96</a:t>
                      </a:r>
                      <a:endParaRPr b="1"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/>
                        <a:t>674.65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600"/>
                        <a:t>121.07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266325"/>
            <a:ext cx="8102400" cy="10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Compared the area between abc and out refinement.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Possible Improvement Directions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266325"/>
            <a:ext cx="8102400" cy="33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Increase the scale of the circuit used for training.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TW" sz="1500"/>
              <a:t>The paper used 50000 </a:t>
            </a:r>
            <a:r>
              <a:rPr lang="zh-TW" sz="1500"/>
              <a:t>circuit with an average logic level of 234 as training dataset.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zh-TW" sz="1500"/>
              <a:t>Our only dataset only have an average logic level of 40 as for now.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zh-TW" sz="1500"/>
              <a:t>Optimize the features selected for training the model.</a:t>
            </a:r>
            <a:endParaRPr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500"/>
              <a:t>END</a:t>
            </a:r>
            <a:endParaRPr sz="6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